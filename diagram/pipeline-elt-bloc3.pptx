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Segoe UI"/>
              </a:rPr>
              <a:t>Pipeline de données (ELT) — AutoMeca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F5C344"/>
                </a:solidFill>
                <a:latin typeface="Segoe UI"/>
              </a:rPr>
              <a:t>Bloc 3 — Un seul modèle Extract → Load → Transform, décliné à deux cadences (temps réel et batch quotidien)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051560"/>
            <a:ext cx="11640312" cy="1920240"/>
          </a:xfrm>
          <a:prstGeom prst="roundRect">
            <a:avLst>
              <a:gd name="adj" fmla="val 4000"/>
            </a:avLst>
          </a:prstGeom>
          <a:solidFill>
            <a:srgbClr val="ECF3FC"/>
          </a:solidFill>
          <a:ln w="1397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064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B2947"/>
                </a:solidFill>
                <a:latin typeface="Segoe UI"/>
              </a:rPr>
              <a:t>FLUX TEMPS RÉEL — capteurs critiques (continu)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36192"/>
            <a:ext cx="160020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ear 6 7"/>
          <p:cNvSpPr/>
          <p:nvPr/>
        </p:nvSpPr>
        <p:spPr>
          <a:xfrm>
            <a:off x="603504" y="1961387"/>
            <a:ext cx="292608" cy="292608"/>
          </a:xfrm>
          <a:prstGeom prst="gear6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1869948"/>
            <a:ext cx="9418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Capteurs IoT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116835"/>
            <a:ext cx="941832" cy="5166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 i="1">
                <a:solidFill>
                  <a:srgbClr val="55606E"/>
                </a:solidFill>
                <a:latin typeface="Segoe UI"/>
              </a:rPr>
              <a:t>machines critiques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58568" y="1536192"/>
            <a:ext cx="160020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2451689" y="2107691"/>
            <a:ext cx="198973" cy="0"/>
          </a:xfrm>
          <a:prstGeom prst="line">
            <a:avLst/>
          </a:prstGeom>
          <a:ln w="27940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2413650" y="2069652"/>
            <a:ext cx="76078" cy="76078"/>
          </a:xfrm>
          <a:prstGeom prst="ellipse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513136" y="2069652"/>
            <a:ext cx="76078" cy="76078"/>
          </a:xfrm>
          <a:prstGeom prst="ellipse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612623" y="2069652"/>
            <a:ext cx="76078" cy="76078"/>
          </a:xfrm>
          <a:prstGeom prst="ellipse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1869948"/>
            <a:ext cx="9418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MQTT → Kafka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2116835"/>
            <a:ext cx="941832" cy="5166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 i="1">
                <a:solidFill>
                  <a:srgbClr val="55606E"/>
                </a:solidFill>
                <a:latin typeface="Segoe UI"/>
              </a:rPr>
              <a:t>ingestion continue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8568" y="2697479"/>
            <a:ext cx="16002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 i="0">
                <a:solidFill>
                  <a:srgbClr val="0A66C2"/>
                </a:solidFill>
                <a:latin typeface="Segoe UI"/>
              </a:rPr>
              <a:t>EXTRACT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59935" y="1536192"/>
            <a:ext cx="160020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loud 19"/>
          <p:cNvSpPr/>
          <p:nvPr/>
        </p:nvSpPr>
        <p:spPr>
          <a:xfrm>
            <a:off x="4133087" y="1961387"/>
            <a:ext cx="438912" cy="292608"/>
          </a:xfrm>
          <a:prstGeom prst="cloud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0288" y="1869948"/>
            <a:ext cx="9418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Object Storage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0288" y="2116835"/>
            <a:ext cx="941832" cy="5166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 i="1">
                <a:solidFill>
                  <a:srgbClr val="55606E"/>
                </a:solidFill>
                <a:latin typeface="Segoe UI"/>
              </a:rPr>
              <a:t>Parquet (séries temporelles)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59935" y="2697479"/>
            <a:ext cx="16002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 i="0">
                <a:solidFill>
                  <a:srgbClr val="0A66C2"/>
                </a:solidFill>
                <a:latin typeface="Segoe UI"/>
              </a:rPr>
              <a:t>LOAD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59935" y="1362456"/>
            <a:ext cx="160020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40" b="1" i="0">
                <a:solidFill>
                  <a:srgbClr val="0A66C2"/>
                </a:solidFill>
                <a:latin typeface="Segoe UI"/>
              </a:rPr>
              <a:t>DATA LAKE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61304" y="1536192"/>
            <a:ext cx="3246120" cy="1143000"/>
          </a:xfrm>
          <a:prstGeom prst="roundRect">
            <a:avLst>
              <a:gd name="adj" fmla="val 5000"/>
            </a:avLst>
          </a:prstGeom>
          <a:solidFill>
            <a:srgbClr val="FBFCFD"/>
          </a:solidFill>
          <a:ln w="2159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61304" y="1581912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60" b="1" i="0">
                <a:solidFill>
                  <a:srgbClr val="2E7D5B"/>
                </a:solidFill>
                <a:latin typeface="Segoe UI"/>
              </a:rPr>
              <a:t>ClickHouse — un seul moteur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1304" y="1362456"/>
            <a:ext cx="324612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40" b="1" i="0">
                <a:solidFill>
                  <a:srgbClr val="2E7D5B"/>
                </a:solidFill>
                <a:latin typeface="Segoe UI"/>
              </a:rPr>
              <a:t>DATA WAREHOUSE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98464" y="1883664"/>
            <a:ext cx="141274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an 28"/>
          <p:cNvSpPr/>
          <p:nvPr/>
        </p:nvSpPr>
        <p:spPr>
          <a:xfrm>
            <a:off x="6133795" y="2121408"/>
            <a:ext cx="131673" cy="182880"/>
          </a:xfrm>
          <a:prstGeom prst="can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2066543"/>
            <a:ext cx="97383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60" b="1" i="0">
                <a:solidFill>
                  <a:srgbClr val="0B2947"/>
                </a:solidFill>
                <a:latin typeface="Segoe UI"/>
              </a:rPr>
              <a:t>Table brute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98464" y="2560320"/>
            <a:ext cx="141274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 i="0">
                <a:solidFill>
                  <a:srgbClr val="2E7D5B"/>
                </a:solidFill>
                <a:latin typeface="Segoe UI"/>
              </a:rPr>
              <a:t>LOAD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57516" y="1883664"/>
            <a:ext cx="141274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263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7667244" y="2139696"/>
            <a:ext cx="45720" cy="73152"/>
          </a:xfrm>
          <a:prstGeom prst="line">
            <a:avLst/>
          </a:prstGeom>
          <a:ln w="30480">
            <a:solidFill>
              <a:srgbClr val="C263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712964" y="2139696"/>
            <a:ext cx="45720" cy="146304"/>
          </a:xfrm>
          <a:prstGeom prst="line">
            <a:avLst/>
          </a:prstGeom>
          <a:ln w="30480">
            <a:solidFill>
              <a:srgbClr val="C263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7758684" y="2139696"/>
            <a:ext cx="45720" cy="146304"/>
          </a:xfrm>
          <a:prstGeom prst="line">
            <a:avLst/>
          </a:prstGeom>
          <a:ln w="30480">
            <a:solidFill>
              <a:srgbClr val="C263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804404" y="2139696"/>
            <a:ext cx="45720" cy="73152"/>
          </a:xfrm>
          <a:prstGeom prst="line">
            <a:avLst/>
          </a:prstGeom>
          <a:ln w="30480">
            <a:solidFill>
              <a:srgbClr val="C263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923276" y="2066543"/>
            <a:ext cx="97383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60" b="1" i="0">
                <a:solidFill>
                  <a:srgbClr val="0B2947"/>
                </a:solidFill>
                <a:latin typeface="Segoe UI"/>
              </a:rPr>
              <a:t>Vue matérialisée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57516" y="2560320"/>
            <a:ext cx="141274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 i="0">
                <a:solidFill>
                  <a:srgbClr val="C2630A"/>
                </a:solidFill>
                <a:latin typeface="Segoe UI"/>
              </a:rPr>
              <a:t>TRANSFORM (SQL)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411212" y="2212848"/>
            <a:ext cx="146304" cy="0"/>
          </a:xfrm>
          <a:prstGeom prst="line">
            <a:avLst/>
          </a:prstGeom>
          <a:ln w="16510">
            <a:solidFill>
              <a:srgbClr val="C2630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557516" y="2404872"/>
            <a:ext cx="1412748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60" b="0" i="1">
                <a:solidFill>
                  <a:srgbClr val="55606E"/>
                </a:solidFill>
                <a:latin typeface="Segoe UI"/>
              </a:rPr>
              <a:t>fenêtre glissante : RMS + tendance pression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08592" y="1536192"/>
            <a:ext cx="160020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C263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Lightning Bolt 41"/>
          <p:cNvSpPr/>
          <p:nvPr/>
        </p:nvSpPr>
        <p:spPr>
          <a:xfrm>
            <a:off x="9525121" y="1961387"/>
            <a:ext cx="152156" cy="292608"/>
          </a:xfrm>
          <a:prstGeom prst="lightningBolt">
            <a:avLst/>
          </a:prstGeom>
          <a:solidFill>
            <a:srgbClr val="C2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38944" y="1869948"/>
            <a:ext cx="9418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Alerte précoce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38944" y="2116835"/>
            <a:ext cx="941832" cy="5166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 i="1">
                <a:solidFill>
                  <a:srgbClr val="55606E"/>
                </a:solidFill>
                <a:latin typeface="Segoe UI"/>
              </a:rPr>
              <a:t>si seuil dépassé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057400" y="2107691"/>
            <a:ext cx="201168" cy="0"/>
          </a:xfrm>
          <a:prstGeom prst="line">
            <a:avLst/>
          </a:prstGeom>
          <a:ln w="16510">
            <a:solidFill>
              <a:srgbClr val="0A66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858768" y="2107691"/>
            <a:ext cx="201167" cy="0"/>
          </a:xfrm>
          <a:prstGeom prst="line">
            <a:avLst/>
          </a:prstGeom>
          <a:ln w="16510">
            <a:solidFill>
              <a:srgbClr val="0A66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5660136" y="2107691"/>
            <a:ext cx="201168" cy="0"/>
          </a:xfrm>
          <a:prstGeom prst="line">
            <a:avLst/>
          </a:prstGeom>
          <a:ln w="16510">
            <a:solidFill>
              <a:srgbClr val="0A66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9107424" y="2107691"/>
            <a:ext cx="201168" cy="0"/>
          </a:xfrm>
          <a:prstGeom prst="line">
            <a:avLst/>
          </a:prstGeom>
          <a:ln w="16510">
            <a:solidFill>
              <a:srgbClr val="C2630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274320" y="3136392"/>
            <a:ext cx="11640312" cy="1920240"/>
          </a:xfrm>
          <a:prstGeom prst="roundRect">
            <a:avLst>
              <a:gd name="adj" fmla="val 4000"/>
            </a:avLst>
          </a:prstGeom>
          <a:solidFill>
            <a:srgbClr val="F3F0FA"/>
          </a:solidFill>
          <a:ln w="1397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319125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B2947"/>
                </a:solidFill>
                <a:latin typeface="Segoe UI"/>
              </a:rPr>
              <a:t>FLUX BATCH — GMAO / ERP (quotidien)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3621024"/>
            <a:ext cx="169164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Document 51"/>
          <p:cNvSpPr/>
          <p:nvPr/>
        </p:nvSpPr>
        <p:spPr>
          <a:xfrm>
            <a:off x="629838" y="4046220"/>
            <a:ext cx="239938" cy="292608"/>
          </a:xfrm>
          <a:prstGeom prst="flowChartDocumen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7552" y="3954780"/>
            <a:ext cx="10332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Kaggle API + GMAO/ERP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7552" y="4201668"/>
            <a:ext cx="1033272" cy="5166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" b="0" i="1">
                <a:solidFill>
                  <a:srgbClr val="55606E"/>
                </a:solidFill>
                <a:latin typeface="Segoe UI"/>
              </a:rPr>
              <a:t>récupération quotidienne. + thermographies : anticipé, absent du dataset actuel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4782312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 i="0">
                <a:solidFill>
                  <a:srgbClr val="55606E"/>
                </a:solidFill>
                <a:latin typeface="Segoe UI"/>
              </a:rPr>
              <a:t>EXTRACT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368296" y="3621024"/>
            <a:ext cx="169164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Cloud 56"/>
          <p:cNvSpPr/>
          <p:nvPr/>
        </p:nvSpPr>
        <p:spPr>
          <a:xfrm>
            <a:off x="2441448" y="4046220"/>
            <a:ext cx="438912" cy="292608"/>
          </a:xfrm>
          <a:prstGeom prst="cloud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898648" y="3954780"/>
            <a:ext cx="10332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Object Storage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98648" y="4201668"/>
            <a:ext cx="1033272" cy="5166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" b="0" i="1">
                <a:solidFill>
                  <a:srgbClr val="55606E"/>
                </a:solidFill>
                <a:latin typeface="Segoe UI"/>
              </a:rPr>
              <a:t>dépôt brut — centralisé, partagé avec le flux temps réel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68296" y="4782312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 i="0">
                <a:solidFill>
                  <a:srgbClr val="0A66C2"/>
                </a:solidFill>
                <a:latin typeface="Segoe UI"/>
              </a:rPr>
              <a:t>LOAD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68296" y="3447288"/>
            <a:ext cx="16916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40" b="1" i="0">
                <a:solidFill>
                  <a:srgbClr val="0A66C2"/>
                </a:solidFill>
                <a:latin typeface="Segoe UI"/>
              </a:rPr>
              <a:t>DATA LAKE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79392" y="3621024"/>
            <a:ext cx="3063240" cy="1143000"/>
          </a:xfrm>
          <a:prstGeom prst="roundRect">
            <a:avLst>
              <a:gd name="adj" fmla="val 5000"/>
            </a:avLst>
          </a:prstGeom>
          <a:solidFill>
            <a:srgbClr val="FBFCFD"/>
          </a:solidFill>
          <a:ln w="2159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279392" y="3666744"/>
            <a:ext cx="3063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60" b="1" i="0">
                <a:solidFill>
                  <a:srgbClr val="0B2947"/>
                </a:solidFill>
                <a:latin typeface="Segoe UI"/>
              </a:rPr>
              <a:t>PostgreSQL — un seul moteur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79392" y="3447288"/>
            <a:ext cx="30632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40" b="1" i="0">
                <a:solidFill>
                  <a:srgbClr val="0B2947"/>
                </a:solidFill>
                <a:latin typeface="Segoe UI"/>
              </a:rPr>
              <a:t>DATA WAREHOUSE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416552" y="3968496"/>
            <a:ext cx="132130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Can 65"/>
          <p:cNvSpPr/>
          <p:nvPr/>
        </p:nvSpPr>
        <p:spPr>
          <a:xfrm>
            <a:off x="4551883" y="4206240"/>
            <a:ext cx="131673" cy="182880"/>
          </a:xfrm>
          <a:prstGeom prst="can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782312" y="4151376"/>
            <a:ext cx="88239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60" b="1" i="0">
                <a:solidFill>
                  <a:srgbClr val="0B2947"/>
                </a:solidFill>
                <a:latin typeface="Segoe UI"/>
              </a:rPr>
              <a:t>Staging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16552" y="4645151"/>
            <a:ext cx="132130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 i="0">
                <a:solidFill>
                  <a:srgbClr val="0B2947"/>
                </a:solidFill>
                <a:latin typeface="Segoe UI"/>
              </a:rPr>
              <a:t>LOAD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884164" y="3968496"/>
            <a:ext cx="132130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ear 6 69"/>
          <p:cNvSpPr/>
          <p:nvPr/>
        </p:nvSpPr>
        <p:spPr>
          <a:xfrm>
            <a:off x="5993892" y="4206240"/>
            <a:ext cx="182880" cy="182880"/>
          </a:xfrm>
          <a:prstGeom prst="gear6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49924" y="4151376"/>
            <a:ext cx="88239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60" b="1" i="0">
                <a:solidFill>
                  <a:srgbClr val="0B2947"/>
                </a:solidFill>
                <a:latin typeface="Segoe UI"/>
              </a:rPr>
              <a:t>Datamart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884164" y="4645151"/>
            <a:ext cx="132130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 i="0">
                <a:solidFill>
                  <a:srgbClr val="2E7D5B"/>
                </a:solidFill>
                <a:latin typeface="Segoe UI"/>
              </a:rPr>
              <a:t>TRANSFORM (SQL)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737860" y="4297680"/>
            <a:ext cx="146304" cy="0"/>
          </a:xfrm>
          <a:prstGeom prst="line">
            <a:avLst/>
          </a:prstGeom>
          <a:ln w="16510">
            <a:solidFill>
              <a:srgbClr val="2E7D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5884164" y="4489703"/>
            <a:ext cx="1321308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60" b="0" i="1">
                <a:solidFill>
                  <a:srgbClr val="55606E"/>
                </a:solidFill>
                <a:latin typeface="Segoe UI"/>
              </a:rPr>
              <a:t>fusion unifiée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562088" y="3621024"/>
            <a:ext cx="169164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714244" y="4098889"/>
            <a:ext cx="187269" cy="187269"/>
          </a:xfrm>
          <a:prstGeom prst="ellipse">
            <a:avLst/>
          </a:prstGeom>
          <a:noFill/>
          <a:ln w="2794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807878" y="4098889"/>
            <a:ext cx="187269" cy="187269"/>
          </a:xfrm>
          <a:prstGeom prst="ellipse">
            <a:avLst/>
          </a:prstGeom>
          <a:noFill/>
          <a:ln w="2794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92440" y="3954780"/>
            <a:ext cx="10332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B2947"/>
                </a:solidFill>
                <a:latin typeface="Segoe UI"/>
              </a:rPr>
              <a:t>Consolidation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92440" y="4201668"/>
            <a:ext cx="1033272" cy="5166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" b="0" i="1">
                <a:solidFill>
                  <a:srgbClr val="55606E"/>
                </a:solidFill>
                <a:latin typeface="Segoe UI"/>
              </a:rPr>
              <a:t>télémétrie + GMAO/ERP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473184" y="3621024"/>
            <a:ext cx="169164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9678009" y="4104741"/>
            <a:ext cx="175564" cy="175564"/>
          </a:xfrm>
          <a:prstGeom prst="roundRect">
            <a:avLst/>
          </a:prstGeom>
          <a:noFill/>
          <a:ln w="3048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9713122" y="4072554"/>
            <a:ext cx="0" cy="32187"/>
          </a:xfrm>
          <a:prstGeom prst="line">
            <a:avLst/>
          </a:prstGeom>
          <a:ln w="254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9713122" y="4280306"/>
            <a:ext cx="0" cy="32187"/>
          </a:xfrm>
          <a:prstGeom prst="line">
            <a:avLst/>
          </a:prstGeom>
          <a:ln w="254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9765792" y="4072554"/>
            <a:ext cx="0" cy="32187"/>
          </a:xfrm>
          <a:prstGeom prst="line">
            <a:avLst/>
          </a:prstGeom>
          <a:ln w="254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9765792" y="4280306"/>
            <a:ext cx="0" cy="32187"/>
          </a:xfrm>
          <a:prstGeom prst="line">
            <a:avLst/>
          </a:prstGeom>
          <a:ln w="254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818461" y="4072554"/>
            <a:ext cx="0" cy="32187"/>
          </a:xfrm>
          <a:prstGeom prst="line">
            <a:avLst/>
          </a:prstGeom>
          <a:ln w="254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818461" y="4280306"/>
            <a:ext cx="0" cy="32187"/>
          </a:xfrm>
          <a:prstGeom prst="line">
            <a:avLst/>
          </a:prstGeom>
          <a:ln w="254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10003536" y="3954780"/>
            <a:ext cx="10332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Bloc 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03536" y="4201668"/>
            <a:ext cx="1033272" cy="5166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 i="1">
                <a:solidFill>
                  <a:srgbClr val="55606E"/>
                </a:solidFill>
                <a:latin typeface="Segoe UI"/>
              </a:rPr>
              <a:t>modèle prédictif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0877153" y="3737518"/>
            <a:ext cx="173004" cy="156911"/>
          </a:xfrm>
          <a:prstGeom prst="roundRect">
            <a:avLst/>
          </a:prstGeom>
          <a:noFill/>
          <a:ln w="3302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10877153" y="3785074"/>
            <a:ext cx="173005" cy="0"/>
          </a:xfrm>
          <a:prstGeom prst="line">
            <a:avLst/>
          </a:prstGeom>
          <a:ln w="2794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148840" y="4192524"/>
            <a:ext cx="219456" cy="0"/>
          </a:xfrm>
          <a:prstGeom prst="line">
            <a:avLst/>
          </a:prstGeom>
          <a:ln w="17780">
            <a:solidFill>
              <a:srgbClr val="6F42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4059935" y="4192524"/>
            <a:ext cx="219457" cy="0"/>
          </a:xfrm>
          <a:prstGeom prst="line">
            <a:avLst/>
          </a:prstGeom>
          <a:ln w="17780">
            <a:solidFill>
              <a:srgbClr val="6F42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342631" y="4192524"/>
            <a:ext cx="219457" cy="91440"/>
          </a:xfrm>
          <a:prstGeom prst="line">
            <a:avLst/>
          </a:prstGeom>
          <a:ln w="16510">
            <a:solidFill>
              <a:srgbClr val="6F42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7484364" y="2679191"/>
            <a:ext cx="923544" cy="941833"/>
          </a:xfrm>
          <a:prstGeom prst="line">
            <a:avLst/>
          </a:prstGeom>
          <a:ln w="16510">
            <a:solidFill>
              <a:srgbClr val="2E7D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569964" y="2697479"/>
            <a:ext cx="18288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40" b="0" i="1">
                <a:solidFill>
                  <a:srgbClr val="2E7D5B"/>
                </a:solidFill>
                <a:latin typeface="Segoe UI"/>
              </a:rPr>
              <a:t>agrégats télémétrie (quotidien)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9253728" y="4192524"/>
            <a:ext cx="219456" cy="0"/>
          </a:xfrm>
          <a:prstGeom prst="line">
            <a:avLst/>
          </a:prstGeom>
          <a:ln w="17780">
            <a:solidFill>
              <a:srgbClr val="6F42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ounded Rectangle 97"/>
          <p:cNvSpPr/>
          <p:nvPr/>
        </p:nvSpPr>
        <p:spPr>
          <a:xfrm>
            <a:off x="274320" y="5202936"/>
            <a:ext cx="11640312" cy="1170432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13970">
            <a:solidFill>
              <a:srgbClr val="DB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57200" y="5257800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0B2947"/>
                </a:solidFill>
                <a:latin typeface="Segoe UI"/>
              </a:rPr>
              <a:t>UN SEUL MODÈLE ELT, DEUX CADENCES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38912" y="5532120"/>
            <a:ext cx="258089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0" b="1" i="0">
                <a:solidFill>
                  <a:srgbClr val="0A66C2"/>
                </a:solidFill>
                <a:latin typeface="Segoe UI"/>
              </a:rPr>
              <a:t>Pourquoi un ELT unique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38912" y="5751576"/>
            <a:ext cx="2580894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22303F"/>
                </a:solidFill>
                <a:latin typeface="Segoe UI"/>
              </a:rPr>
              <a:t>Les deux flux chargent le brut en premier (Load), puis transforment après coup, en SQL, dans la base de destination — jamais l'inverse.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348990" y="5532120"/>
            <a:ext cx="258089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0" b="1" i="0">
                <a:solidFill>
                  <a:srgbClr val="0A66C2"/>
                </a:solidFill>
                <a:latin typeface="Segoe UI"/>
              </a:rPr>
              <a:t>Temps réel réactif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348990" y="5751576"/>
            <a:ext cx="2580894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22303F"/>
                </a:solidFill>
                <a:latin typeface="Segoe UI"/>
              </a:rPr>
              <a:t>La vue matérialisée ClickHouse se recalcule à chaque insertion — pas de cluster de streaming externe à opérer (Spark Streaming resterait la cible à grande échelle).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3184398" y="5312664"/>
            <a:ext cx="0" cy="969264"/>
          </a:xfrm>
          <a:prstGeom prst="line">
            <a:avLst/>
          </a:prstGeom>
          <a:ln w="9525">
            <a:solidFill>
              <a:srgbClr val="DB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6259068" y="5532120"/>
            <a:ext cx="258089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0" b="1" i="0">
                <a:solidFill>
                  <a:srgbClr val="0A66C2"/>
                </a:solidFill>
                <a:latin typeface="Segoe UI"/>
              </a:rPr>
              <a:t>Orchestration — Airflow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259068" y="5751576"/>
            <a:ext cx="2580894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22303F"/>
                </a:solidFill>
                <a:latin typeface="Segoe UI"/>
              </a:rPr>
              <a:t>Airflow orchestre le flux batch, de bout en bout (quotidien) — le flux Kafka tourne en continu, de façon autonome, hors Airflow.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094476" y="5312664"/>
            <a:ext cx="0" cy="969264"/>
          </a:xfrm>
          <a:prstGeom prst="line">
            <a:avLst/>
          </a:prstGeom>
          <a:ln w="9525">
            <a:solidFill>
              <a:srgbClr val="DB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/>
        </p:nvSpPr>
        <p:spPr>
          <a:xfrm>
            <a:off x="9169146" y="5532120"/>
            <a:ext cx="258089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0" b="1" i="0">
                <a:solidFill>
                  <a:srgbClr val="0A66C2"/>
                </a:solidFill>
                <a:latin typeface="Segoe UI"/>
              </a:rPr>
              <a:t>Résilience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169146" y="5751576"/>
            <a:ext cx="2580894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22303F"/>
                </a:solidFill>
                <a:latin typeface="Segoe UI"/>
              </a:rPr>
              <a:t>Reprise automatique sur erreur (relance de la tâche en échec, idempotente) + alerte opérationnelle immédiate en cas d'échec — distincte de l'alerte précoce métier.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9004554" y="5312664"/>
            <a:ext cx="0" cy="969264"/>
          </a:xfrm>
          <a:prstGeom prst="line">
            <a:avLst/>
          </a:prstGeom>
          <a:ln w="9525">
            <a:solidFill>
              <a:srgbClr val="DB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365760" y="64922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06E"/>
                </a:solidFill>
                <a:latin typeface="Segoe UI"/>
              </a:rPr>
              <a:t>Bloc 3 — Pipelines de données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10104120" y="6437376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950" b="1" i="0">
                <a:solidFill>
                  <a:srgbClr val="0B2947"/>
                </a:solidFill>
                <a:latin typeface="Segoe UI"/>
              </a:rPr>
              <a:t>AutoMeca Systems</a:t>
            </a:r>
          </a:p>
        </p:txBody>
      </p:sp>
      <p:sp>
        <p:nvSpPr>
          <p:cNvPr id="113" name="TextBox Consolidation Transform"/>
          <p:cNvSpPr txBox="1"/>
          <p:nvPr/>
        </p:nvSpPr>
        <p:spPr>
          <a:xfrm>
            <a:off x="7562088" y="4782312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 i="0">
                <a:solidFill>
                  <a:srgbClr val="3776AB"/>
                </a:solidFill>
                <a:latin typeface="Segoe UI"/>
              </a:rPr>
              <a:t>TRANSFORM (Python)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Segoe UI"/>
              </a:rPr>
              <a:t>Qualité, Monitoring &amp; RGPD — AutoMeca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F5C344"/>
                </a:solidFill>
                <a:latin typeface="Segoe UI"/>
              </a:rPr>
              <a:t>Bloc 3 — Contrôles transverses au pipeline ELT présenté en page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051560"/>
            <a:ext cx="11640312" cy="1645920"/>
          </a:xfrm>
          <a:prstGeom prst="roundRect">
            <a:avLst>
              <a:gd name="adj" fmla="val 4000"/>
            </a:avLst>
          </a:prstGeom>
          <a:solidFill>
            <a:srgbClr val="FCF3F0"/>
          </a:solidFill>
          <a:ln w="13970">
            <a:solidFill>
              <a:srgbClr val="B42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06424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B2947"/>
                </a:solidFill>
                <a:latin typeface="Segoe UI"/>
              </a:rPr>
              <a:t>VALIDATION &amp; QUARANTAINE — avant intégration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17319"/>
            <a:ext cx="16002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50321" y="2011679"/>
            <a:ext cx="198973" cy="0"/>
          </a:xfrm>
          <a:prstGeom prst="line">
            <a:avLst/>
          </a:prstGeom>
          <a:ln w="27940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12282" y="1973640"/>
            <a:ext cx="76078" cy="76078"/>
          </a:xfrm>
          <a:prstGeom prst="ellipse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1768" y="1973640"/>
            <a:ext cx="76078" cy="76078"/>
          </a:xfrm>
          <a:prstGeom prst="ellipse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255" y="1973640"/>
            <a:ext cx="76078" cy="76078"/>
          </a:xfrm>
          <a:prstGeom prst="ellipse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1773935"/>
            <a:ext cx="9418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B2947"/>
                </a:solidFill>
                <a:latin typeface="Segoe UI"/>
              </a:rPr>
              <a:t>Flux entrant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2020823"/>
            <a:ext cx="941832" cy="5394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1">
                <a:solidFill>
                  <a:srgbClr val="55606E"/>
                </a:solidFill>
                <a:latin typeface="Segoe UI"/>
              </a:rPr>
              <a:t>Kafka (page 1)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58568" y="1417319"/>
            <a:ext cx="1874519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B42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04872" y="1865375"/>
            <a:ext cx="292608" cy="292608"/>
          </a:xfrm>
          <a:prstGeom prst="ellipse">
            <a:avLst/>
          </a:prstGeom>
          <a:noFill/>
          <a:ln w="30480">
            <a:solidFill>
              <a:srgbClr val="B42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2486802" y="2011679"/>
            <a:ext cx="52669" cy="58522"/>
          </a:xfrm>
          <a:prstGeom prst="line">
            <a:avLst/>
          </a:prstGeom>
          <a:ln w="33020">
            <a:solidFill>
              <a:srgbClr val="B423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539471" y="1947306"/>
            <a:ext cx="93635" cy="122895"/>
          </a:xfrm>
          <a:prstGeom prst="line">
            <a:avLst/>
          </a:prstGeom>
          <a:ln w="33020">
            <a:solidFill>
              <a:srgbClr val="B423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788920" y="1773935"/>
            <a:ext cx="121615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B2947"/>
                </a:solidFill>
                <a:latin typeface="Segoe UI"/>
              </a:rPr>
              <a:t>Règles de validation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2020823"/>
            <a:ext cx="1216151" cy="5394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1">
                <a:solidFill>
                  <a:srgbClr val="55606E"/>
                </a:solidFill>
                <a:latin typeface="Segoe UI"/>
              </a:rPr>
              <a:t>détection automatique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34256" y="1417319"/>
            <a:ext cx="1691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an 20"/>
          <p:cNvSpPr/>
          <p:nvPr/>
        </p:nvSpPr>
        <p:spPr>
          <a:xfrm>
            <a:off x="4521525" y="1554480"/>
            <a:ext cx="210677" cy="292608"/>
          </a:xfrm>
          <a:prstGeom prst="can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1463039"/>
            <a:ext cx="10332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B2947"/>
                </a:solidFill>
                <a:latin typeface="Segoe UI"/>
              </a:rPr>
              <a:t>Intégration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64608" y="1709928"/>
            <a:ext cx="103327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" b="0" i="1">
                <a:solidFill>
                  <a:srgbClr val="55606E"/>
                </a:solidFill>
                <a:latin typeface="Segoe UI"/>
              </a:rPr>
              <a:t>→ Load (page 1)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34256" y="2039112"/>
            <a:ext cx="1691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B42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4480560" y="2176272"/>
            <a:ext cx="292608" cy="292608"/>
          </a:xfrm>
          <a:prstGeom prst="hexagon">
            <a:avLst/>
          </a:prstGeom>
          <a:noFill/>
          <a:ln w="30480">
            <a:solidFill>
              <a:srgbClr val="B42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4626864" y="2258202"/>
            <a:ext cx="0" cy="81930"/>
          </a:xfrm>
          <a:prstGeom prst="line">
            <a:avLst/>
          </a:prstGeom>
          <a:ln w="35560">
            <a:solidFill>
              <a:srgbClr val="B423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604004" y="2358237"/>
            <a:ext cx="45720" cy="45720"/>
          </a:xfrm>
          <a:prstGeom prst="ellipse">
            <a:avLst/>
          </a:prstGeom>
          <a:solidFill>
            <a:srgbClr val="B4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64608" y="2084832"/>
            <a:ext cx="10332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B2947"/>
                </a:solidFill>
                <a:latin typeface="Segoe UI"/>
              </a:rPr>
              <a:t>Quarantaine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64608" y="2331720"/>
            <a:ext cx="103327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" b="0" i="1">
                <a:solidFill>
                  <a:srgbClr val="55606E"/>
                </a:solidFill>
                <a:latin typeface="Segoe UI"/>
              </a:rPr>
              <a:t>exclues, non intégrées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057400" y="2011679"/>
            <a:ext cx="201168" cy="0"/>
          </a:xfrm>
          <a:prstGeom prst="line">
            <a:avLst/>
          </a:prstGeom>
          <a:ln w="17780">
            <a:solidFill>
              <a:srgbClr val="0A66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133087" y="1700784"/>
            <a:ext cx="201169" cy="219455"/>
          </a:xfrm>
          <a:prstGeom prst="line">
            <a:avLst/>
          </a:prstGeom>
          <a:ln w="16510">
            <a:solidFill>
              <a:srgbClr val="2E7D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133087" y="2103120"/>
            <a:ext cx="201169" cy="219456"/>
          </a:xfrm>
          <a:prstGeom prst="line">
            <a:avLst/>
          </a:prstGeom>
          <a:ln w="16510">
            <a:solidFill>
              <a:srgbClr val="B423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400800" y="1453895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30" b="0" i="0">
                <a:solidFill>
                  <a:srgbClr val="22303F"/>
                </a:solidFill>
                <a:latin typeface="Segoe UI"/>
              </a:rPr>
              <a:t>Contrôles automatiques :
•  Valeur hors plage (aberrante) — par mesure, quarantaine si suspecte
•  Capteur silencieux (donnée manquante) — contrôle périodique, alerte
Une valeur hors plage est isolée en quarantaine — jamais fusionnée avec les données validées.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2825496"/>
            <a:ext cx="11640312" cy="1417320"/>
          </a:xfrm>
          <a:prstGeom prst="roundRect">
            <a:avLst>
              <a:gd name="adj" fmla="val 4000"/>
            </a:avLst>
          </a:prstGeom>
          <a:solidFill>
            <a:srgbClr val="ECF3FC"/>
          </a:solidFill>
          <a:ln w="1397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2880360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B2947"/>
                </a:solidFill>
                <a:latin typeface="Segoe UI"/>
              </a:rPr>
              <a:t>TABLEAU DE BORD — supervision du pipeline</a:t>
            </a:r>
          </a:p>
        </p:txBody>
      </p:sp>
      <p:sp>
        <p:nvSpPr>
          <p:cNvPr id="36" name="Oval 35"/>
          <p:cNvSpPr/>
          <p:nvPr/>
        </p:nvSpPr>
        <p:spPr>
          <a:xfrm>
            <a:off x="1830323" y="3209544"/>
            <a:ext cx="768096" cy="768096"/>
          </a:xfrm>
          <a:prstGeom prst="ellipse">
            <a:avLst/>
          </a:prstGeom>
          <a:solidFill>
            <a:srgbClr val="DD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4320" y="3337560"/>
            <a:ext cx="388010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0A66C2"/>
                </a:solidFill>
                <a:latin typeface="Segoe UI"/>
              </a:rPr>
              <a:t>&lt; 2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3867912"/>
            <a:ext cx="333146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0B2947"/>
                </a:solidFill>
                <a:latin typeface="Segoe UI"/>
              </a:rPr>
              <a:t>Fraîcheur des données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4069080"/>
            <a:ext cx="351434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 i="1">
                <a:solidFill>
                  <a:srgbClr val="55606E"/>
                </a:solidFill>
                <a:latin typeface="Segoe UI"/>
              </a:rPr>
              <a:t>depuis la dernière mesure intégrée</a:t>
            </a:r>
          </a:p>
        </p:txBody>
      </p:sp>
      <p:sp>
        <p:nvSpPr>
          <p:cNvPr id="40" name="Oval 39"/>
          <p:cNvSpPr/>
          <p:nvPr/>
        </p:nvSpPr>
        <p:spPr>
          <a:xfrm>
            <a:off x="5710427" y="3209544"/>
            <a:ext cx="768096" cy="768096"/>
          </a:xfrm>
          <a:prstGeom prst="ellipse">
            <a:avLst/>
          </a:prstGeom>
          <a:solidFill>
            <a:srgbClr val="DD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54423" y="3337560"/>
            <a:ext cx="388010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0A66C2"/>
                </a:solidFill>
                <a:latin typeface="Segoe UI"/>
              </a:rPr>
              <a:t>0,4 %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28744" y="3867912"/>
            <a:ext cx="333146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0B2947"/>
                </a:solidFill>
                <a:latin typeface="Segoe UI"/>
              </a:rPr>
              <a:t>Taux d'erreur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37304" y="4069080"/>
            <a:ext cx="351434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 i="1">
                <a:solidFill>
                  <a:srgbClr val="55606E"/>
                </a:solidFill>
                <a:latin typeface="Segoe UI"/>
              </a:rPr>
              <a:t>données rejetées / mises en quarantaine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154423" y="2953512"/>
            <a:ext cx="0" cy="1197864"/>
          </a:xfrm>
          <a:prstGeom prst="line">
            <a:avLst/>
          </a:prstGeom>
          <a:ln w="9525">
            <a:solidFill>
              <a:srgbClr val="DB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9590532" y="3209544"/>
            <a:ext cx="768096" cy="768096"/>
          </a:xfrm>
          <a:prstGeom prst="ellipse">
            <a:avLst/>
          </a:prstGeom>
          <a:solidFill>
            <a:srgbClr val="DD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34528" y="3337560"/>
            <a:ext cx="388010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0A66C2"/>
                </a:solidFill>
                <a:latin typeface="Segoe UI"/>
              </a:rPr>
              <a:t>8 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08848" y="3867912"/>
            <a:ext cx="333146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0B2947"/>
                </a:solidFill>
                <a:latin typeface="Segoe UI"/>
              </a:rPr>
              <a:t>Latence bout-en-bout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17408" y="4069080"/>
            <a:ext cx="351434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 i="1">
                <a:solidFill>
                  <a:srgbClr val="55606E"/>
                </a:solidFill>
                <a:latin typeface="Segoe UI"/>
              </a:rPr>
              <a:t>capteur → donnée disponible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034528" y="2953512"/>
            <a:ext cx="0" cy="1197864"/>
          </a:xfrm>
          <a:prstGeom prst="line">
            <a:avLst/>
          </a:prstGeom>
          <a:ln w="9525">
            <a:solidFill>
              <a:srgbClr val="DB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274320" y="4370832"/>
            <a:ext cx="11640312" cy="1508760"/>
          </a:xfrm>
          <a:prstGeom prst="roundRect">
            <a:avLst>
              <a:gd name="adj" fmla="val 4000"/>
            </a:avLst>
          </a:prstGeom>
          <a:solidFill>
            <a:srgbClr val="F3F0FA"/>
          </a:solidFill>
          <a:ln w="1397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4425696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B2947"/>
                </a:solidFill>
                <a:latin typeface="Segoe UI"/>
              </a:rPr>
              <a:t>RGPD — PSEUDONYMISATION &amp; TRAÇABILITÉ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7200" y="4736592"/>
            <a:ext cx="196596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09356" y="5123017"/>
            <a:ext cx="187269" cy="187269"/>
          </a:xfrm>
          <a:prstGeom prst="ellipse">
            <a:avLst/>
          </a:prstGeom>
          <a:noFill/>
          <a:ln w="2794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02990" y="5123017"/>
            <a:ext cx="187269" cy="187269"/>
          </a:xfrm>
          <a:prstGeom prst="ellipse">
            <a:avLst/>
          </a:prstGeom>
          <a:noFill/>
          <a:ln w="2794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7552" y="4978908"/>
            <a:ext cx="13075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Données croisées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7552" y="5225796"/>
            <a:ext cx="1307592" cy="4251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 i="1">
                <a:solidFill>
                  <a:srgbClr val="55606E"/>
                </a:solidFill>
                <a:latin typeface="Segoe UI"/>
              </a:rPr>
              <a:t>télémétrie + opérateur (dim_operateur)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697480" y="4736592"/>
            <a:ext cx="196596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865729" y="5172760"/>
            <a:ext cx="248716" cy="181416"/>
          </a:xfrm>
          <a:prstGeom prst="roundRect">
            <a:avLst/>
          </a:prstGeom>
          <a:solidFill>
            <a:srgbClr val="6F4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Block Arc 58"/>
          <p:cNvSpPr/>
          <p:nvPr/>
        </p:nvSpPr>
        <p:spPr>
          <a:xfrm>
            <a:off x="2908157" y="5070348"/>
            <a:ext cx="163860" cy="146304"/>
          </a:xfrm>
          <a:prstGeom prst="blockArc">
            <a:avLst/>
          </a:prstGeom>
          <a:noFill/>
          <a:ln w="3810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227832" y="4978908"/>
            <a:ext cx="13075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Pseudonymisation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27832" y="5225796"/>
            <a:ext cx="1307592" cy="4251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 i="1">
                <a:solidFill>
                  <a:srgbClr val="55606E"/>
                </a:solidFill>
                <a:latin typeface="Segoe UI"/>
              </a:rPr>
              <a:t>dès l'ingestion, avant stockage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937760" y="4736592"/>
            <a:ext cx="196596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Can 62"/>
          <p:cNvSpPr/>
          <p:nvPr/>
        </p:nvSpPr>
        <p:spPr>
          <a:xfrm>
            <a:off x="5125029" y="5070348"/>
            <a:ext cx="210677" cy="292608"/>
          </a:xfrm>
          <a:prstGeom prst="can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68112" y="4978908"/>
            <a:ext cx="13075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Table opérateur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68112" y="5225796"/>
            <a:ext cx="1307592" cy="4251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 i="1">
                <a:solidFill>
                  <a:srgbClr val="55606E"/>
                </a:solidFill>
                <a:latin typeface="Segoe UI"/>
              </a:rPr>
              <a:t>identité pseudonymisée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423160" y="5216652"/>
            <a:ext cx="274320" cy="0"/>
          </a:xfrm>
          <a:prstGeom prst="line">
            <a:avLst/>
          </a:prstGeom>
          <a:ln w="17780">
            <a:solidFill>
              <a:srgbClr val="6F42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663440" y="5216652"/>
            <a:ext cx="274320" cy="0"/>
          </a:xfrm>
          <a:prstGeom prst="line">
            <a:avLst/>
          </a:prstGeom>
          <a:ln w="17780">
            <a:solidFill>
              <a:srgbClr val="6F42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589520" y="4736592"/>
            <a:ext cx="379476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Document 68"/>
          <p:cNvSpPr/>
          <p:nvPr/>
        </p:nvSpPr>
        <p:spPr>
          <a:xfrm>
            <a:off x="7762158" y="5070348"/>
            <a:ext cx="239938" cy="292608"/>
          </a:xfrm>
          <a:prstGeom prst="flowChartDocumen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119872" y="4978908"/>
            <a:ext cx="31363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Journal d'accès &amp; traitements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19872" y="5225796"/>
            <a:ext cx="3136392" cy="4251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 i="1">
                <a:solidFill>
                  <a:srgbClr val="55606E"/>
                </a:solidFill>
                <a:latin typeface="Segoe UI"/>
              </a:rPr>
              <a:t>trace qui a accédé/modifié quoi, quand, sur l'ensemble du pipeline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903720" y="5216652"/>
            <a:ext cx="685800" cy="0"/>
          </a:xfrm>
          <a:prstGeom prst="line">
            <a:avLst/>
          </a:prstGeom>
          <a:ln w="12700">
            <a:solidFill>
              <a:srgbClr val="6F42C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65760" y="64922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06E"/>
                </a:solidFill>
                <a:latin typeface="Segoe UI"/>
              </a:rPr>
              <a:t>Bloc 3 — Pipelines de données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104120" y="6437376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950" b="1" i="0">
                <a:solidFill>
                  <a:srgbClr val="0B2947"/>
                </a:solidFill>
                <a:latin typeface="Segoe UI"/>
              </a:rPr>
              <a:t>AutoMeca Systems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