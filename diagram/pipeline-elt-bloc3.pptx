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Pipeline de données (ELT)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Un seul modèle Extract → Load → Transform, décliné à deux cadences (temps réel et batch quotidien)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TEMPS RÉEL — capteurs critiques (continu)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03504" y="1961387"/>
            <a:ext cx="292608" cy="292608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machines critiques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8568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451689" y="2107691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13650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13136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12623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MQTT →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ingestion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EXTRACT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59935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4133087" y="1961387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Parquet (séries temporelles)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935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362456"/>
            <a:ext cx="16002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61304" y="1536192"/>
            <a:ext cx="324612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1304" y="158191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2E7D5B"/>
                </a:solidFill>
                <a:latin typeface="Segoe UI"/>
              </a:rPr>
              <a:t>ClickHouse — un seul moteur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1362456"/>
            <a:ext cx="32461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2E7D5B"/>
                </a:solidFill>
                <a:latin typeface="Segoe UI"/>
              </a:rPr>
              <a:t>DATA WAREHOUSE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8464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n 28"/>
          <p:cNvSpPr/>
          <p:nvPr/>
        </p:nvSpPr>
        <p:spPr>
          <a:xfrm>
            <a:off x="6133795" y="2121408"/>
            <a:ext cx="131673" cy="182880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Table brute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7516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66724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1296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75868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0440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3276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Vue matérialisée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57516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C2630A"/>
                </a:solidFill>
                <a:latin typeface="Segoe UI"/>
              </a:rPr>
              <a:t>TRANSFORM (SQL)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11212" y="2212848"/>
            <a:ext cx="146304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557516" y="2404872"/>
            <a:ext cx="141274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fenêtre glissante : RMS + tendance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08592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9525121" y="1961387"/>
            <a:ext cx="152156" cy="292608"/>
          </a:xfrm>
          <a:prstGeom prst="lightningBolt">
            <a:avLst/>
          </a:prstGeom>
          <a:solidFill>
            <a:srgbClr val="C2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Alerte précoce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38944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si seuil dépassé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57400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58768" y="2107691"/>
            <a:ext cx="201167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0136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107424" y="2107691"/>
            <a:ext cx="201168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74320" y="3136392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BATCH — GMAO / ERP (quotidien)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cument 51"/>
          <p:cNvSpPr/>
          <p:nvPr/>
        </p:nvSpPr>
        <p:spPr>
          <a:xfrm>
            <a:off x="629838" y="4046220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Kaggle API + GMAO/ERP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récupération quotidienne. + thermographies : anticipé, absent du dataset actuel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55606E"/>
                </a:solidFill>
                <a:latin typeface="Segoe UI"/>
              </a:rPr>
              <a:t>EXTRACT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8296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loud 56"/>
          <p:cNvSpPr/>
          <p:nvPr/>
        </p:nvSpPr>
        <p:spPr>
          <a:xfrm>
            <a:off x="2441448" y="4046220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98648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98648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dépôt brut — centralisé, partagé avec le flux temps réel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68296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68296" y="3447288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9392" y="3621024"/>
            <a:ext cx="306324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9392" y="3666744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0B2947"/>
                </a:solidFill>
                <a:latin typeface="Segoe UI"/>
              </a:rPr>
              <a:t>PostgreSQL — un seul moteur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47288"/>
            <a:ext cx="3063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B2947"/>
                </a:solidFill>
                <a:latin typeface="Segoe UI"/>
              </a:rPr>
              <a:t>DATA WAREHOUSE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16552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4551883" y="4206240"/>
            <a:ext cx="131673" cy="182880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82312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Staging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16552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B2947"/>
                </a:solidFill>
                <a:latin typeface="Segoe UI"/>
              </a:rPr>
              <a:t>LOAD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84164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ear 6 69"/>
          <p:cNvSpPr/>
          <p:nvPr/>
        </p:nvSpPr>
        <p:spPr>
          <a:xfrm>
            <a:off x="5993892" y="4206240"/>
            <a:ext cx="182880" cy="182880"/>
          </a:xfrm>
          <a:prstGeom prst="gear6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49924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Datamart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84164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TRANSFORM (SQL)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737860" y="4297680"/>
            <a:ext cx="146304" cy="0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84164" y="4489703"/>
            <a:ext cx="132130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fusion unifiée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562088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14244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807878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Consolidation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télémétrie + GMAO/ERP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73184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678009" y="4104741"/>
            <a:ext cx="175564" cy="175564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971312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71312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76579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76579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818461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818461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0003536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Bloc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03536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modèle prédictif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7153" y="3737518"/>
            <a:ext cx="173004" cy="156911"/>
          </a:xfrm>
          <a:prstGeom prst="roundRect">
            <a:avLst/>
          </a:prstGeom>
          <a:noFill/>
          <a:ln w="330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0877153" y="3785074"/>
            <a:ext cx="173005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148840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059935" y="4192524"/>
            <a:ext cx="219457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2631" y="4192524"/>
            <a:ext cx="219457" cy="91440"/>
          </a:xfrm>
          <a:prstGeom prst="line">
            <a:avLst/>
          </a:prstGeom>
          <a:ln w="1651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484364" y="2679191"/>
            <a:ext cx="923544" cy="941833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569964" y="2697479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" b="0" i="1">
                <a:solidFill>
                  <a:srgbClr val="2E7D5B"/>
                </a:solidFill>
                <a:latin typeface="Segoe UI"/>
              </a:rPr>
              <a:t>agrégats télémétrie (quotidien)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253728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74320" y="5202936"/>
            <a:ext cx="1164031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2578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UN SEUL MODÈLE ELT, DEUX CADENCES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8912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Pourquoi un ELT unique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Les deux flux chargent le brut en premier (Load), puis transforment après coup, en SQL, dans la base de destination — jamais l'inverse.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8990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Temps réel réactif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48990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La vue matérialisée ClickHouse se recalcule à chaque insertion — pas de cluster de streaming externe à opérer (Spark Streaming resterait la cible à grande échelle).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184398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259068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Orchestration — Airflow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9068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Airflow orchestre les deux flux de bout en bout, sans intervention manuelle : déclenchement continu (Kafka) et quotidien (batch + consolidation).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094476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169146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Résilience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69146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Reprise automatique sur erreur (relance de la tâche en échec, idempotente) + alerte opérationnelle immédiate en cas d'échec — distincte de l'alerte précoce métier.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004554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Qualité, Monitoring &amp; RGPD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Contrôles transverses au pipeline ELT présenté en page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645920"/>
          </a:xfrm>
          <a:prstGeom prst="roundRect">
            <a:avLst>
              <a:gd name="adj" fmla="val 4000"/>
            </a:avLst>
          </a:prstGeom>
          <a:solidFill>
            <a:srgbClr val="FCF3F0"/>
          </a:solidFill>
          <a:ln w="1397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VALIDATION &amp; QUARANTAINE — avant intégration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19"/>
            <a:ext cx="1600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50321" y="2011679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12282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1768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255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73935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Flux entrant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020823"/>
            <a:ext cx="94183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Kafka (page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17319"/>
            <a:ext cx="1874519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04872" y="1865375"/>
            <a:ext cx="292608" cy="292608"/>
          </a:xfrm>
          <a:prstGeom prst="ellipse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486802" y="2011679"/>
            <a:ext cx="52669" cy="58522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39471" y="1947306"/>
            <a:ext cx="93635" cy="122895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773935"/>
            <a:ext cx="121615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Règles de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020823"/>
            <a:ext cx="1216151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détection automatique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417319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521525" y="1554480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463039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Intégration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1709928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→ Load (page 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2039112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4480560" y="2176272"/>
            <a:ext cx="292608" cy="292608"/>
          </a:xfrm>
          <a:prstGeom prst="hexagon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626864" y="2258202"/>
            <a:ext cx="0" cy="81930"/>
          </a:xfrm>
          <a:prstGeom prst="line">
            <a:avLst/>
          </a:prstGeom>
          <a:ln w="3556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604004" y="2358237"/>
            <a:ext cx="45720" cy="45720"/>
          </a:xfrm>
          <a:prstGeom prst="ellipse">
            <a:avLst/>
          </a:prstGeom>
          <a:solidFill>
            <a:srgbClr val="B4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8" y="2084832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Quarantaine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2331720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exclues, non intégrées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57400" y="2011679"/>
            <a:ext cx="201168" cy="0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33087" y="1700784"/>
            <a:ext cx="201169" cy="219455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33087" y="2103120"/>
            <a:ext cx="201169" cy="219456"/>
          </a:xfrm>
          <a:prstGeom prst="line">
            <a:avLst/>
          </a:prstGeom>
          <a:ln w="16510">
            <a:solidFill>
              <a:srgbClr val="B4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0" y="1453895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22303F"/>
                </a:solidFill>
                <a:latin typeface="Segoe UI"/>
              </a:rPr>
              <a:t>Contrôles automatiques appliqués à chaque mesure :
•  Valeur hors plage (aberrante)
•  Capteur silencieux (donnée manquante)
Une donnée suspecte est isolée en quarantaine — elle n'est jamais fusionnée avec les données validées.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2825496"/>
            <a:ext cx="11640312" cy="141732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880360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TABLEAU DE BORD — supervision du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1830323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&lt; 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Fraîcheur des données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depuis la dernière mesure intégrée</a:t>
            </a:r>
          </a:p>
        </p:txBody>
      </p:sp>
      <p:sp>
        <p:nvSpPr>
          <p:cNvPr id="40" name="Oval 39"/>
          <p:cNvSpPr/>
          <p:nvPr/>
        </p:nvSpPr>
        <p:spPr>
          <a:xfrm>
            <a:off x="5710427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4423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0,4 %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8744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Taux d'erreur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7304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données rejetées / mises en quarantaine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154423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590532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4528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8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8848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Latence bout-en-bout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capteur → donnée disponible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034528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74320" y="4370832"/>
            <a:ext cx="11640312" cy="150876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4256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RGPD — PSEUDONYMISATION &amp; TRAÇABILITÉ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09356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2990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55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Données croisées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télémétrie + opérateur (dim_operateur)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9748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5729" y="5172760"/>
            <a:ext cx="248716" cy="181416"/>
          </a:xfrm>
          <a:prstGeom prst="round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Block Arc 58"/>
          <p:cNvSpPr/>
          <p:nvPr/>
        </p:nvSpPr>
        <p:spPr>
          <a:xfrm>
            <a:off x="2908157" y="5070348"/>
            <a:ext cx="163860" cy="146304"/>
          </a:xfrm>
          <a:prstGeom prst="blockArc">
            <a:avLst/>
          </a:prstGeom>
          <a:noFill/>
          <a:ln w="381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2783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Pseudonymisation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dès l'ingestion, avant stockage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n 62"/>
          <p:cNvSpPr/>
          <p:nvPr/>
        </p:nvSpPr>
        <p:spPr>
          <a:xfrm>
            <a:off x="5125029" y="5070348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811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Table opérateur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811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identité pseudonymisée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2316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6344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589520" y="4736592"/>
            <a:ext cx="3794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ocument 68"/>
          <p:cNvSpPr/>
          <p:nvPr/>
        </p:nvSpPr>
        <p:spPr>
          <a:xfrm>
            <a:off x="7762158" y="5070348"/>
            <a:ext cx="239938" cy="292608"/>
          </a:xfrm>
          <a:prstGeom prst="flowChartDocumen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4978908"/>
            <a:ext cx="3136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Journal d'accès &amp; traitements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5225796"/>
            <a:ext cx="31363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trace qui a accédé/modifié quoi, quand, sur l'ensemble du pipeline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903720" y="5216652"/>
            <a:ext cx="685800" cy="0"/>
          </a:xfrm>
          <a:prstGeom prst="line">
            <a:avLst/>
          </a:prstGeom>
          <a:ln w="12700">
            <a:solidFill>
              <a:srgbClr val="6F42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